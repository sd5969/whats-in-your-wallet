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700"/>
    <p:restoredTop sz="94610"/>
  </p:normalViewPr>
  <p:slideViewPr>
    <p:cSldViewPr snapToGrid="0" snapToObjects="1">
      <p:cViewPr varScale="1">
        <p:scale>
          <a:sx n="148" d="100"/>
          <a:sy n="148" d="100"/>
        </p:scale>
        <p:origin x="712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9973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 w="12700">
            <a:solidFill>
              <a:srgbClr val="F5F7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D5108"/>
          </a:solidFill>
          <a:ln w="12700">
            <a:solidFill>
              <a:srgbClr val="FD51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567160" y="146304"/>
            <a:ext cx="621792" cy="6071616"/>
          </a:xfrm>
          <a:prstGeom prst="rect">
            <a:avLst/>
          </a:prstGeom>
          <a:solidFill>
            <a:srgbClr val="EEEFF1"/>
          </a:solidFill>
          <a:ln w="12700">
            <a:solidFill>
              <a:srgbClr val="EEEF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261872"/>
            <a:ext cx="73152" cy="457200"/>
          </a:xfrm>
          <a:prstGeom prst="rect">
            <a:avLst/>
          </a:prstGeom>
          <a:solidFill>
            <a:srgbClr val="FD5108"/>
          </a:solidFill>
          <a:ln w="12700">
            <a:solidFill>
              <a:srgbClr val="FD51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914400"/>
            <a:ext cx="786384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869680" y="914400"/>
            <a:ext cx="2560320" cy="4480560"/>
          </a:xfrm>
          <a:prstGeom prst="rect">
            <a:avLst/>
          </a:prstGeom>
          <a:solidFill>
            <a:srgbClr val="FE7C39"/>
          </a:solidFill>
          <a:ln w="12700">
            <a:solidFill>
              <a:srgbClr val="FE7C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88720" y="1508760"/>
            <a:ext cx="7223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Vibecoding in Practice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1188720" y="3017520"/>
            <a:ext cx="7040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34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software creation, higher governance stakes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42976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7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Presenter: Sanjit Dutta   Date: Feb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 w="12700">
            <a:solidFill>
              <a:srgbClr val="F5F7F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D5108"/>
          </a:solidFill>
          <a:ln w="12700">
            <a:solidFill>
              <a:srgbClr val="FD510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1567160" y="146304"/>
            <a:ext cx="621792" cy="6071616"/>
          </a:xfrm>
          <a:prstGeom prst="rect">
            <a:avLst/>
          </a:prstGeom>
          <a:solidFill>
            <a:srgbClr val="EEEFF1"/>
          </a:solidFill>
          <a:ln w="12700">
            <a:solidFill>
              <a:srgbClr val="EEEF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822960" y="1261872"/>
            <a:ext cx="73152" cy="457200"/>
          </a:xfrm>
          <a:prstGeom prst="rect">
            <a:avLst/>
          </a:prstGeom>
          <a:solidFill>
            <a:srgbClr val="FD5108"/>
          </a:solidFill>
          <a:ln w="12700">
            <a:solidFill>
              <a:srgbClr val="FD510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22960" y="43891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A7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65836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and the Product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822960" y="1234440"/>
            <a:ext cx="5215129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051560" y="1600200"/>
            <a:ext cx="4986529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Rewards program changes made my wallet strategy obsolete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built a tool to test card portfolio setups and spend-routing scenarios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 stores inputs locally so users can iterate and compare over time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link: https://lnkd.in/ew2dtgms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 for bugs: https://lnkd.in/ejAyzACp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53912" y="1234440"/>
            <a:ext cx="5184648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1" name="Image 0" descr="/Users/sdutta406/Repositories/whats-in-your-wallet/slides/assets/demo-screen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912" y="1481328"/>
            <a:ext cx="5001768" cy="43434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822960" y="6217920"/>
            <a:ext cx="10515600" cy="566928"/>
          </a:xfrm>
          <a:prstGeom prst="rect">
            <a:avLst/>
          </a:prstGeom>
          <a:solidFill>
            <a:srgbClr val="FD5108"/>
          </a:solidFill>
          <a:ln w="12700">
            <a:solidFill>
              <a:srgbClr val="FD510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1051560" y="637336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user pain can now be translated into software in a single session.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 w="12700">
            <a:solidFill>
              <a:srgbClr val="F5F7F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D5108"/>
          </a:solidFill>
          <a:ln w="12700">
            <a:solidFill>
              <a:srgbClr val="FD510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1567160" y="146304"/>
            <a:ext cx="621792" cy="6071616"/>
          </a:xfrm>
          <a:prstGeom prst="rect">
            <a:avLst/>
          </a:prstGeom>
          <a:solidFill>
            <a:srgbClr val="EEEFF1"/>
          </a:solidFill>
          <a:ln w="12700">
            <a:solidFill>
              <a:srgbClr val="EEEF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822960" y="1261872"/>
            <a:ext cx="73152" cy="457200"/>
          </a:xfrm>
          <a:prstGeom prst="rect">
            <a:avLst/>
          </a:prstGeom>
          <a:solidFill>
            <a:srgbClr val="FD5108"/>
          </a:solidFill>
          <a:ln w="12700">
            <a:solidFill>
              <a:srgbClr val="FD510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22960" y="43891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A7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POINTS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65836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Proof That This Is Real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868680" y="1417320"/>
            <a:ext cx="521208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1033272" y="1563624"/>
            <a:ext cx="54864" cy="1673352"/>
          </a:xfrm>
          <a:prstGeom prst="rect">
            <a:avLst/>
          </a:prstGeom>
          <a:solidFill>
            <a:srgbClr val="FD5108"/>
          </a:solidFill>
          <a:ln w="12700">
            <a:solidFill>
              <a:srgbClr val="FD510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188720" y="1856232"/>
            <a:ext cx="4709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minutes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188720" y="2642616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7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working application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75120" y="1417320"/>
            <a:ext cx="521208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6839712" y="1563624"/>
            <a:ext cx="54864" cy="1673352"/>
          </a:xfrm>
          <a:prstGeom prst="rect">
            <a:avLst/>
          </a:prstGeom>
          <a:solidFill>
            <a:srgbClr val="FD5108"/>
          </a:solidFill>
          <a:ln w="12700">
            <a:solidFill>
              <a:srgbClr val="FD510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6995160" y="1856232"/>
            <a:ext cx="4709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40+ hours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995160" y="2642616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7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build estimate for similar outcome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68680" y="3794760"/>
            <a:ext cx="521208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1033272" y="3941064"/>
            <a:ext cx="54864" cy="1673352"/>
          </a:xfrm>
          <a:prstGeom prst="rect">
            <a:avLst/>
          </a:prstGeom>
          <a:solidFill>
            <a:srgbClr val="FD5108"/>
          </a:solidFill>
          <a:ln w="12700">
            <a:solidFill>
              <a:srgbClr val="FD510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1188720" y="4233672"/>
            <a:ext cx="4709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~8 hours with intermittent refinement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188720" y="5020056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7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total to solid state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75120" y="3794760"/>
            <a:ext cx="521208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6839712" y="3941064"/>
            <a:ext cx="54864" cy="1673352"/>
          </a:xfrm>
          <a:prstGeom prst="rect">
            <a:avLst/>
          </a:prstGeom>
          <a:solidFill>
            <a:srgbClr val="FD5108"/>
          </a:solidFill>
          <a:ln w="12700">
            <a:solidFill>
              <a:srgbClr val="FD510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6995160" y="4233672"/>
            <a:ext cx="4709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$300+ annual wallet upside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995160" y="5020056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7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outcome from using the app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22960" y="6217920"/>
            <a:ext cx="10515600" cy="566928"/>
          </a:xfrm>
          <a:prstGeom prst="rect">
            <a:avLst/>
          </a:prstGeom>
          <a:solidFill>
            <a:srgbClr val="FD5108"/>
          </a:solidFill>
          <a:ln w="12700">
            <a:solidFill>
              <a:srgbClr val="FD510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1051560" y="637336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Time-to-value compression is real for both builders and end users.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 w="12700">
            <a:solidFill>
              <a:srgbClr val="F5F7F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D5108"/>
          </a:solidFill>
          <a:ln w="12700">
            <a:solidFill>
              <a:srgbClr val="FD510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1567160" y="146304"/>
            <a:ext cx="621792" cy="6071616"/>
          </a:xfrm>
          <a:prstGeom prst="rect">
            <a:avLst/>
          </a:prstGeom>
          <a:solidFill>
            <a:srgbClr val="EEEFF1"/>
          </a:solidFill>
          <a:ln w="12700">
            <a:solidFill>
              <a:srgbClr val="EEEF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822960" y="1261872"/>
            <a:ext cx="73152" cy="457200"/>
          </a:xfrm>
          <a:prstGeom prst="rect">
            <a:avLst/>
          </a:prstGeom>
          <a:solidFill>
            <a:srgbClr val="FD5108"/>
          </a:solidFill>
          <a:ln w="12700">
            <a:solidFill>
              <a:srgbClr val="FD510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22960" y="43891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A7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MODES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65836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Vibecoding Breaks Down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868680" y="1417320"/>
            <a:ext cx="5230368" cy="201168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1097280" y="17373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E8D4"/>
          </a:solidFill>
          <a:ln w="12700">
            <a:solidFill>
              <a:srgbClr val="FFE8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280160" y="1764792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E7C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737360" y="1737360"/>
            <a:ext cx="413308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 code and legacy artifacts accumulate quickly (e.g., vestigial Mongo code)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601968" y="1417320"/>
            <a:ext cx="5230368" cy="201168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6830568" y="17373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E8D4"/>
          </a:solidFill>
          <a:ln w="12700">
            <a:solidFill>
              <a:srgbClr val="FFE8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7013448" y="1764792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E7C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470648" y="1737360"/>
            <a:ext cx="413308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implementation paths often need to be blocked or rewritten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68680" y="3749040"/>
            <a:ext cx="5230368" cy="201168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1097280" y="40690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E8D4"/>
          </a:solidFill>
          <a:ln w="12700">
            <a:solidFill>
              <a:srgbClr val="FFE8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1280160" y="4096512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E7C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737360" y="4069080"/>
            <a:ext cx="413308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 loops can waste time and increase technical debt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601968" y="3749040"/>
            <a:ext cx="5230368" cy="201168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6830568" y="40690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E8D4"/>
          </a:solidFill>
          <a:ln w="12700">
            <a:solidFill>
              <a:srgbClr val="FFE8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7013448" y="4096512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E7C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470648" y="4069080"/>
            <a:ext cx="413308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Front-end responsiveness and visualization quality still required manual takeover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22960" y="6217920"/>
            <a:ext cx="10515600" cy="566928"/>
          </a:xfrm>
          <a:prstGeom prst="rect">
            <a:avLst/>
          </a:prstGeom>
          <a:solidFill>
            <a:srgbClr val="FD5108"/>
          </a:solidFill>
          <a:ln w="12700">
            <a:solidFill>
              <a:srgbClr val="FD510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1051560" y="637336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AI-generated code is fast code, not automatically good code.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 w="12700">
            <a:solidFill>
              <a:srgbClr val="F5F7F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D5108"/>
          </a:solidFill>
          <a:ln w="12700">
            <a:solidFill>
              <a:srgbClr val="FD510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1567160" y="146304"/>
            <a:ext cx="621792" cy="6071616"/>
          </a:xfrm>
          <a:prstGeom prst="rect">
            <a:avLst/>
          </a:prstGeom>
          <a:solidFill>
            <a:srgbClr val="EEEFF1"/>
          </a:solidFill>
          <a:ln w="12700">
            <a:solidFill>
              <a:srgbClr val="EEEF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822960" y="1261872"/>
            <a:ext cx="73152" cy="457200"/>
          </a:xfrm>
          <a:prstGeom prst="rect">
            <a:avLst/>
          </a:prstGeom>
          <a:solidFill>
            <a:srgbClr val="FD5108"/>
          </a:solidFill>
          <a:ln w="12700">
            <a:solidFill>
              <a:srgbClr val="FD510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22960" y="43891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A7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MODEL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65836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 Guardrails Are Non-Negotiable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868680" y="1554480"/>
            <a:ext cx="3566160" cy="4023360"/>
          </a:xfrm>
          <a:prstGeom prst="roundRect">
            <a:avLst>
              <a:gd name="adj" fmla="val 1282"/>
            </a:avLst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868680" y="1554480"/>
            <a:ext cx="3566160" cy="548640"/>
          </a:xfrm>
          <a:prstGeom prst="rect">
            <a:avLst/>
          </a:prstGeom>
          <a:solidFill>
            <a:srgbClr val="FD5108"/>
          </a:solidFill>
          <a:ln w="12700">
            <a:solidFill>
              <a:srgbClr val="FD510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051560" y="167335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2331720"/>
            <a:ext cx="3108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 and repository hygiene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754880" y="1554480"/>
            <a:ext cx="3566160" cy="4023360"/>
          </a:xfrm>
          <a:prstGeom prst="roundRect">
            <a:avLst>
              <a:gd name="adj" fmla="val 1282"/>
            </a:avLst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4754880" y="1554480"/>
            <a:ext cx="3566160" cy="548640"/>
          </a:xfrm>
          <a:prstGeom prst="rect">
            <a:avLst/>
          </a:prstGeom>
          <a:solidFill>
            <a:srgbClr val="FE7C39"/>
          </a:solidFill>
          <a:ln w="12700">
            <a:solidFill>
              <a:srgbClr val="FE7C3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4937760" y="167335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83480" y="2331720"/>
            <a:ext cx="3108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and API hardening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641080" y="1554480"/>
            <a:ext cx="3566160" cy="4023360"/>
          </a:xfrm>
          <a:prstGeom prst="roundRect">
            <a:avLst>
              <a:gd name="adj" fmla="val 1282"/>
            </a:avLst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8641080" y="1554480"/>
            <a:ext cx="3566160" cy="548640"/>
          </a:xfrm>
          <a:prstGeom prst="rect">
            <a:avLst/>
          </a:prstGeom>
          <a:solidFill>
            <a:srgbClr val="FFAA72"/>
          </a:solidFill>
          <a:ln w="12700">
            <a:solidFill>
              <a:srgbClr val="FFAA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8823960" y="167335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869680" y="2331720"/>
            <a:ext cx="3108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availability and reliability controls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571500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A7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model: free-form for POCs, structured step-by-step for production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2960" y="6217920"/>
            <a:ext cx="10515600" cy="566928"/>
          </a:xfrm>
          <a:prstGeom prst="rect">
            <a:avLst/>
          </a:prstGeom>
          <a:solidFill>
            <a:srgbClr val="FD5108"/>
          </a:solidFill>
          <a:ln w="12700">
            <a:solidFill>
              <a:srgbClr val="FD510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1051560" y="637336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scales only when governance scales with it.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 w="12700">
            <a:solidFill>
              <a:srgbClr val="F5F7F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D5108"/>
          </a:solidFill>
          <a:ln w="12700">
            <a:solidFill>
              <a:srgbClr val="FD510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1567160" y="146304"/>
            <a:ext cx="621792" cy="6071616"/>
          </a:xfrm>
          <a:prstGeom prst="rect">
            <a:avLst/>
          </a:prstGeom>
          <a:solidFill>
            <a:srgbClr val="EEEFF1"/>
          </a:solidFill>
          <a:ln w="12700">
            <a:solidFill>
              <a:srgbClr val="EEEF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822960" y="1261872"/>
            <a:ext cx="73152" cy="457200"/>
          </a:xfrm>
          <a:prstGeom prst="rect">
            <a:avLst/>
          </a:prstGeom>
          <a:solidFill>
            <a:srgbClr val="FD5108"/>
          </a:solidFill>
          <a:ln w="12700">
            <a:solidFill>
              <a:srgbClr val="FD510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22960" y="43891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A7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IMPLICATIONS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65836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C0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Implications for PE Tech Strategy Teams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6035040" y="1417320"/>
            <a:ext cx="0" cy="4480560"/>
          </a:xfrm>
          <a:prstGeom prst="line">
            <a:avLst/>
          </a:prstGeom>
          <a:noFill/>
          <a:ln w="15240">
            <a:solidFill>
              <a:srgbClr val="DFE3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914400" y="3657600"/>
            <a:ext cx="10241280" cy="0"/>
          </a:xfrm>
          <a:prstGeom prst="line">
            <a:avLst/>
          </a:prstGeom>
          <a:noFill/>
          <a:ln w="15240">
            <a:solidFill>
              <a:srgbClr val="DFE3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143000" y="1691640"/>
            <a:ext cx="45262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AI code quality explicitly, not just output velocity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63640" y="1691640"/>
            <a:ext cx="45262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productivity gains are real and should be quantified in value-creation plans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3931920"/>
            <a:ext cx="45262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workflows can push delivery toward semi-autonomous execution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63640" y="3931920"/>
            <a:ext cx="45262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diligence, assess AI velocity and software governance together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6217920"/>
            <a:ext cx="10515600" cy="566928"/>
          </a:xfrm>
          <a:prstGeom prst="rect">
            <a:avLst/>
          </a:prstGeom>
          <a:solidFill>
            <a:srgbClr val="FD5108"/>
          </a:solidFill>
          <a:ln w="12700">
            <a:solidFill>
              <a:srgbClr val="FD510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1051560" y="637336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new diligence question is not "Is AI used?" but "Is it governed?"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 w="12700">
            <a:solidFill>
              <a:srgbClr val="F5F7F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D5108"/>
          </a:solidFill>
          <a:ln w="12700">
            <a:solidFill>
              <a:srgbClr val="FD510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1567160" y="146304"/>
            <a:ext cx="621792" cy="6071616"/>
          </a:xfrm>
          <a:prstGeom prst="rect">
            <a:avLst/>
          </a:prstGeom>
          <a:solidFill>
            <a:srgbClr val="EEEFF1"/>
          </a:solidFill>
          <a:ln w="12700">
            <a:solidFill>
              <a:srgbClr val="EEEF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822960" y="1261872"/>
            <a:ext cx="73152" cy="457200"/>
          </a:xfrm>
          <a:prstGeom prst="rect">
            <a:avLst/>
          </a:prstGeom>
          <a:solidFill>
            <a:srgbClr val="FD5108"/>
          </a:solidFill>
          <a:ln w="12700">
            <a:solidFill>
              <a:srgbClr val="FD510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822960" y="960120"/>
            <a:ext cx="10561320" cy="4983480"/>
          </a:xfrm>
          <a:prstGeom prst="roundRect">
            <a:avLst>
              <a:gd name="adj" fmla="val 1284"/>
            </a:avLst>
          </a:prstGeom>
          <a:solidFill>
            <a:srgbClr val="1F232A"/>
          </a:solidFill>
          <a:ln w="12700">
            <a:solidFill>
              <a:srgbClr val="1F23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234440" y="13258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Disclaimer and Call to Action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417320" y="2240280"/>
            <a:ext cx="4434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8EB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This deck itself was 100% </a:t>
            </a:r>
            <a:r>
              <a:rPr lang="en-US" sz="1600" dirty="0" err="1">
                <a:solidFill>
                  <a:srgbClr val="E8EB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vibecoded</a:t>
            </a:r>
            <a:r>
              <a:rPr lang="en-US" sz="1600" dirty="0">
                <a:solidFill>
                  <a:srgbClr val="E8EB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if I was presenting externally (“production”), I would have edited and quality-controlled further
• The same pattern applies to delivery: rapid generation plus disciplined review
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55080" y="2240280"/>
            <a:ext cx="4434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8EB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You do not need to be a traditional engineer to start learning this workflow
• Team ask: test Codex, Claude, or GitHub Copilot today and bring one client-relevant insight back
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6217920"/>
            <a:ext cx="10515600" cy="566928"/>
          </a:xfrm>
          <a:prstGeom prst="rect">
            <a:avLst/>
          </a:prstGeom>
          <a:solidFill>
            <a:srgbClr val="FD5108"/>
          </a:solidFill>
          <a:ln w="12700">
            <a:solidFill>
              <a:srgbClr val="FD510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051560" y="637336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using it now, but operate it like a professional software team if you’re going to sell what you make.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428</Words>
  <Application>Microsoft Macintosh PowerPoint</Application>
  <PresentationFormat>Widescreen</PresentationFormat>
  <Paragraphs>61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Codex</dc:creator>
  <cp:lastModifiedBy>Sanjit Dutta (US)</cp:lastModifiedBy>
  <cp:revision>3</cp:revision>
  <dcterms:created xsi:type="dcterms:W3CDTF">2026-02-17T04:35:34Z</dcterms:created>
  <dcterms:modified xsi:type="dcterms:W3CDTF">2026-02-17T04:38:39Z</dcterms:modified>
</cp:coreProperties>
</file>