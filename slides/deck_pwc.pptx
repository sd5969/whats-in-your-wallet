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image" Target="../media/image-6-2.png"/><Relationship Id="rId10" Type="http://schemas.openxmlformats.org/officeDocument/2006/relationships/image" Target="../media/image-6-2.png"/><Relationship Id="rId11" Type="http://schemas.openxmlformats.org/officeDocument/2006/relationships/image" Target="../media/image-6-11.png"/><Relationship Id="rId12" Type="http://schemas.openxmlformats.org/officeDocument/2006/relationships/image" Target="../media/image-6-2.png"/><Relationship Id="rId13" Type="http://schemas.openxmlformats.org/officeDocument/2006/relationships/image" Target="../media/image-6-2.png"/><Relationship Id="rId14" Type="http://schemas.openxmlformats.org/officeDocument/2006/relationships/image" Target="../media/image-6-2.png"/><Relationship Id="rId15" Type="http://schemas.openxmlformats.org/officeDocument/2006/relationships/image" Target="../media/image-6-2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dutta406/.claude/skills/pwc-slides-brand-version/assets/logo/pwc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64592"/>
            <a:ext cx="1170432" cy="57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60020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Vibecoding in Practice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02920" y="5943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Sanjit Dutta   |   February 2026   |   Technology Strategy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Vibecoding compressed a </a:t>
            </a:r>
            <a:pPr indent="0" marL="0">
              <a:buNone/>
            </a:pPr>
            <a:r>
              <a:rPr lang="en-US" sz="3600" b="1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40-hour build into a single afternoon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set out to solve a real problem: rewards program changes made my credit card strategy obsolete. Using an AI coding agent, I built working software — not a prototype — in a single afternoon session.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materially different from brainstorming in ChatGPT. The agent wrote, tested, and iterated on code autonomously. I directed; it built.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45720" cy="731520"/>
          </a:xfrm>
          <a:prstGeom prst="rect">
            <a:avLst/>
          </a:prstGeom>
          <a:solidFill>
            <a:srgbClr val="FFCDA8"/>
          </a:solidFill>
          <a:ln w="12700">
            <a:solidFill>
              <a:srgbClr val="FFCD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200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software ideas previously too slow or expensive to build are now viable. The activation energy of software creation has dropped dramatically.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1508760"/>
            <a:ext cx="4572000" cy="1828800"/>
          </a:xfrm>
          <a:prstGeom prst="rect">
            <a:avLst>
              <a:gd name="adj" fmla="val 4000"/>
            </a:avLst>
          </a:prstGeom>
          <a:solidFill>
            <a:srgbClr val="FFF5ED"/>
          </a:solidFill>
          <a:ln w="12700">
            <a:solidFill>
              <a:srgbClr val="FFE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1508760"/>
            <a:ext cx="64008" cy="182880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71907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D5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086600" y="2542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working application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28346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blank repo to running, functional 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3429000"/>
            <a:ext cx="4572000" cy="1828800"/>
          </a:xfrm>
          <a:prstGeom prst="rect">
            <a:avLst>
              <a:gd name="adj" fmla="val 4000"/>
            </a:avLst>
          </a:prstGeom>
          <a:solidFill>
            <a:srgbClr val="F5F7F8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363931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 hrs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086600" y="44622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estimate for equivalent outcome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4754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software development cycle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CBD1D6"/>
          </a:solidFill>
          <a:ln/>
        </p:spPr>
      </p:sp>
      <p:pic>
        <p:nvPicPr>
          <p:cNvPr id="18" name="Image 0" descr="/Users/sdutta406/.claude/skills/pwc-slides-brand-version/assets/logo/pwc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475488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351276" y="6510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Vibecoding in Practice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771632" y="6510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credit card optimizer built in hours to solve a </a:t>
            </a:r>
            <a:pPr indent="0" marL="0">
              <a:buNone/>
            </a:pPr>
            <a:r>
              <a:rPr lang="en-US" sz="3600" b="1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financial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03520" cy="804672"/>
          </a:xfrm>
          <a:prstGeom prst="rect">
            <a:avLst>
              <a:gd name="adj" fmla="val 5682"/>
            </a:avLst>
          </a:prstGeom>
          <a:solidFill>
            <a:srgbClr val="F5F7F8"/>
          </a:solidFill>
          <a:ln w="12700">
            <a:solidFill>
              <a:srgbClr val="EEEFF1"/>
            </a:solidFill>
            <a:prstDash val="solid"/>
          </a:ln>
        </p:spPr>
      </p:sp>
      <p:pic>
        <p:nvPicPr>
          <p:cNvPr id="5" name="Image 0" descr="/Users/sdutta406/.claude/skills/pwc-slides-brand-version/.icon_cache/icon_f12a_FD5108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99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18488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program changes made my existing wallet strategy obsolete — I needed to model and compare card portfolios quickly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2441448"/>
            <a:ext cx="5303520" cy="804672"/>
          </a:xfrm>
          <a:prstGeom prst="rect">
            <a:avLst>
              <a:gd name="adj" fmla="val 5682"/>
            </a:avLst>
          </a:prstGeom>
          <a:solidFill>
            <a:srgbClr val="F5F7F8"/>
          </a:solidFill>
          <a:ln w="12700">
            <a:solidFill>
              <a:srgbClr val="EEEFF1"/>
            </a:solidFill>
            <a:prstDash val="solid"/>
          </a:ln>
        </p:spPr>
      </p:sp>
      <p:pic>
        <p:nvPicPr>
          <p:cNvPr id="8" name="Image 1" descr="/Users/sdutta406/.claude/skills/pwc-slides-brand-version/.icon_cache/icon_f1de_FD5108_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4261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5117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tool to configure card setups, spend categories, and benefit values — then compare routing scenarios side-by-side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3374136"/>
            <a:ext cx="5303520" cy="804672"/>
          </a:xfrm>
          <a:prstGeom prst="rect">
            <a:avLst>
              <a:gd name="adj" fmla="val 5682"/>
            </a:avLst>
          </a:prstGeom>
          <a:solidFill>
            <a:srgbClr val="F5F7F8"/>
          </a:solidFill>
          <a:ln w="12700">
            <a:solidFill>
              <a:srgbClr val="EEEFF1"/>
            </a:solidFill>
            <a:prstDash val="solid"/>
          </a:ln>
        </p:spPr>
      </p:sp>
      <p:pic>
        <p:nvPicPr>
          <p:cNvPr id="11" name="Image 2" descr="/Users/sdutta406/.claude/skills/pwc-slides-brand-version/.icon_cache/icon_f201_FD5108_2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7530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483864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persists across sessions so users can iterate as card terms and personal spend change over time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02920" y="4306824"/>
            <a:ext cx="5303520" cy="804672"/>
          </a:xfrm>
          <a:prstGeom prst="rect">
            <a:avLst>
              <a:gd name="adj" fmla="val 5682"/>
            </a:avLst>
          </a:prstGeom>
          <a:solidFill>
            <a:srgbClr val="F5F7F8"/>
          </a:solidFill>
          <a:ln w="12700">
            <a:solidFill>
              <a:srgbClr val="EEEFF1"/>
            </a:solidFill>
            <a:prstDash val="solid"/>
          </a:ln>
        </p:spPr>
      </p:sp>
      <p:pic>
        <p:nvPicPr>
          <p:cNvPr id="14" name="Image 3" descr="/Users/sdutta406/.claude/skills/pwc-slides-brand-version/.icon_cache/icon_f155_FD5108_2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079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416552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$300+ annual wallet upside identified and captured by running scenarios through the app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02920" y="5303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lnkd.in/ew2dtgms   |   Repo: lnkd.in/ejAyzACp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92240" y="1508760"/>
            <a:ext cx="4892040" cy="4480560"/>
          </a:xfrm>
          <a:prstGeom prst="rect">
            <a:avLst>
              <a:gd name="adj" fmla="val 1224"/>
            </a:avLst>
          </a:prstGeom>
          <a:solidFill>
            <a:srgbClr val="F5F7F8"/>
          </a:solidFill>
          <a:ln w="12700">
            <a:solidFill>
              <a:srgbClr val="DFE3E6"/>
            </a:solidFill>
            <a:prstDash val="solid"/>
          </a:ln>
        </p:spPr>
      </p:sp>
      <p:pic>
        <p:nvPicPr>
          <p:cNvPr id="18" name="Image 4" descr="/Users/sdutta406/Repositories/whats-in-your-wallet/slides/assets/demo-screensh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08760"/>
            <a:ext cx="4892040" cy="44805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CBD1D6"/>
          </a:solidFill>
          <a:ln/>
        </p:spPr>
      </p:sp>
      <p:pic>
        <p:nvPicPr>
          <p:cNvPr id="20" name="Image 5" descr="/Users/sdutta406/.claude/skills/pwc-slides-brand-version/assets/logo/pwc_logo_sm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537960"/>
            <a:ext cx="475488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51276" y="6510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Vibecoding in Practice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0771632" y="6510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make the case: </a:t>
            </a:r>
            <a:pPr indent="0" marL="0">
              <a:buNone/>
            </a:pPr>
            <a:r>
              <a:rPr lang="en-US" sz="3600" b="1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savings, and real-world value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120640" cy="2011680"/>
          </a:xfrm>
          <a:prstGeom prst="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5120640" cy="36576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</p:sp>
      <p:pic>
        <p:nvPicPr>
          <p:cNvPr id="6" name="Image 0" descr="/Users/sdutta406/.claude/skills/pwc-slides-brand-version/.icon_cache/icon_f0e7_FD5108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011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5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working application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17296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blank repo to running app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0760" y="1508760"/>
            <a:ext cx="5120640" cy="2011680"/>
          </a:xfrm>
          <a:prstGeom prst="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1508760"/>
            <a:ext cx="5120640" cy="36576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</p:sp>
      <p:pic>
        <p:nvPicPr>
          <p:cNvPr id="12" name="Image 1" descr="/Users/sdutta406/.claude/skills/pwc-slides-brand-version/.icon_cache/icon_f017_FD5108_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099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9360" y="2011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5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 hrs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6309360" y="2834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build estimate for equivalent outcome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09360" y="317296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software development cycle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840480"/>
            <a:ext cx="5120640" cy="2011680"/>
          </a:xfrm>
          <a:prstGeom prst="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3840480"/>
            <a:ext cx="5120640" cy="36576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</p:sp>
      <p:pic>
        <p:nvPicPr>
          <p:cNvPr id="18" name="Image 2" descr="/Users/sdutta406/.claude/skills/pwc-slides-brand-version/.icon_cache/icon_f254_FD5108_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4164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43434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5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hrs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731520" y="5166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time to solid, production-ready state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31520" y="550468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intermittent refinement and QA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0760" y="3840480"/>
            <a:ext cx="5120640" cy="2011680"/>
          </a:xfrm>
          <a:prstGeom prst="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0760" y="3840480"/>
            <a:ext cx="5120640" cy="36576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</p:sp>
      <p:pic>
        <p:nvPicPr>
          <p:cNvPr id="24" name="Image 3" descr="/Users/sdutta406/.claude/skills/pwc-slides-brand-version/.icon_cache/icon_f155_FD5108_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04164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09360" y="43434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5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$300+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6309360" y="5166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wallet upside identified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309360" y="550468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financial value from using the app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CBD1D6"/>
          </a:solidFill>
          <a:ln/>
        </p:spPr>
      </p:sp>
      <p:pic>
        <p:nvPicPr>
          <p:cNvPr id="29" name="Image 4" descr="/Users/sdutta406/.claude/skills/pwc-slides-brand-version/assets/logo/pwc_logo_sma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537960"/>
            <a:ext cx="475488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351276" y="6510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Vibecoding in Practice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0771632" y="6510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code is </a:t>
            </a:r>
            <a:pPr indent="0" marL="0">
              <a:buNone/>
            </a:pPr>
            <a:r>
              <a:rPr lang="en-US" sz="3600" b="1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code — not automatically good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54864" cy="987552"/>
          </a:xfrm>
          <a:prstGeom prst="rect">
            <a:avLst/>
          </a:prstGeom>
          <a:solidFill>
            <a:srgbClr val="FFCDA8"/>
          </a:solidFill>
          <a:ln w="12700">
            <a:solidFill>
              <a:srgbClr val="FFCDA8"/>
            </a:solidFill>
            <a:prstDash val="solid"/>
          </a:ln>
        </p:spPr>
      </p:sp>
      <p:pic>
        <p:nvPicPr>
          <p:cNvPr id="6" name="Image 0" descr="/Users/sdutta406/.claude/skills/pwc-slides-brand-version/.icon_cache/icon_f1f8_FE7C39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36776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code and legacy artifacts accumulate quickly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929384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Vestigial database drivers, unused imports, and orphaned logic persist unless actively pruned. Technical debt accrues by default.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660904"/>
            <a:ext cx="11183112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660904"/>
            <a:ext cx="54864" cy="987552"/>
          </a:xfrm>
          <a:prstGeom prst="rect">
            <a:avLst/>
          </a:prstGeom>
          <a:solidFill>
            <a:srgbClr val="FFCDA8"/>
          </a:solidFill>
          <a:ln w="12700">
            <a:solidFill>
              <a:srgbClr val="FFCDA8"/>
            </a:solidFill>
            <a:prstDash val="solid"/>
          </a:ln>
        </p:spPr>
      </p:sp>
      <p:pic>
        <p:nvPicPr>
          <p:cNvPr id="11" name="Image 1" descr="/Users/sdutta406/.claude/skills/pwc-slides-brand-version/.icon_cache/icon_f021_FE7C39_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971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788920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loops can waste time and deepen technical debt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43000" y="308152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agent enters a retry spiral on a complex bug, it often produces workarounds rather than root-cause fixes — increasing fragility.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813048"/>
            <a:ext cx="11183112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813048"/>
            <a:ext cx="54864" cy="987552"/>
          </a:xfrm>
          <a:prstGeom prst="rect">
            <a:avLst/>
          </a:prstGeom>
          <a:solidFill>
            <a:srgbClr val="FFCDA8"/>
          </a:solidFill>
          <a:ln w="12700">
            <a:solidFill>
              <a:srgbClr val="FFCDA8"/>
            </a:solidFill>
            <a:prstDash val="solid"/>
          </a:ln>
        </p:spPr>
      </p:sp>
      <p:pic>
        <p:nvPicPr>
          <p:cNvPr id="16" name="Image 2" descr="/Users/sdutta406/.claude/skills/pwc-slides-brand-version/.icon_cache/icon_f62b_FE7C39_2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12394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941064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implementation paths need human blocking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43000" y="4233672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 — data models, API contracts, state management — require deliberate design. AI defaults to the simplest working solution.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4965192"/>
            <a:ext cx="11183112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4965192"/>
            <a:ext cx="54864" cy="987552"/>
          </a:xfrm>
          <a:prstGeom prst="rect">
            <a:avLst/>
          </a:prstGeom>
          <a:solidFill>
            <a:srgbClr val="FFCDA8"/>
          </a:solidFill>
          <a:ln w="12700">
            <a:solidFill>
              <a:srgbClr val="FFCDA8"/>
            </a:solidFill>
            <a:prstDash val="solid"/>
          </a:ln>
        </p:spPr>
      </p:sp>
      <p:pic>
        <p:nvPicPr>
          <p:cNvPr id="21" name="Image 3" descr="/Users/sdutta406/.claude/skills/pwc-slides-brand-version/.icon_cache/icon_f1b2_FE7C39_2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27608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5093208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quality and visualization required manual takeover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43000" y="5385816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layouts, data visualization, and interaction design still demand human judgment. The AI produced functional but unpolished UI.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CBD1D6"/>
          </a:solidFill>
          <a:ln/>
        </p:spPr>
      </p:sp>
      <p:pic>
        <p:nvPicPr>
          <p:cNvPr id="25" name="Image 4" descr="/Users/sdutta406/.claude/skills/pwc-slides-brand-version/assets/logo/pwc_logo_sma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537960"/>
            <a:ext cx="475488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351276" y="6510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Vibecoding in Practice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771632" y="6510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guardrails are non-negotiable — </a:t>
            </a:r>
            <a:pPr indent="0" marL="0">
              <a:buNone/>
            </a:pPr>
            <a:r>
              <a:rPr lang="en-US" sz="3600" b="1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scales only when governance scales with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474720" cy="329184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3474720" cy="64008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</p:sp>
      <p:pic>
        <p:nvPicPr>
          <p:cNvPr id="6" name="Image 0" descr="/Users/sdutta406/.claude/skills/pwc-slides-brand-version/.icon_cache/icon_f084_FFFFFF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7335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&amp; Repository Hygiene</a:t>
            </a:r>
            <a:endParaRPr lang="en-US" sz="1200" dirty="0"/>
          </a:p>
        </p:txBody>
      </p:sp>
      <p:pic>
        <p:nvPicPr>
          <p:cNvPr id="8" name="Image 1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6584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35000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credentials in version control</a:t>
            </a:r>
            <a:endParaRPr lang="en-US" sz="1200" dirty="0"/>
          </a:p>
        </p:txBody>
      </p:sp>
      <p:pic>
        <p:nvPicPr>
          <p:cNvPr id="10" name="Image 2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80944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9443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files excluded from commits</a:t>
            </a:r>
            <a:endParaRPr lang="en-US" sz="1200" dirty="0"/>
          </a:p>
        </p:txBody>
      </p:sp>
      <p:pic>
        <p:nvPicPr>
          <p:cNvPr id="12" name="Image 3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75304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353872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 and signed commits</a:t>
            </a:r>
            <a:endParaRPr lang="en-US" sz="1200" dirty="0"/>
          </a:p>
        </p:txBody>
      </p:sp>
      <p:pic>
        <p:nvPicPr>
          <p:cNvPr id="14" name="Image 4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6966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413308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audit before production deploy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251960" y="1508760"/>
            <a:ext cx="3474720" cy="329184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251960" y="1508760"/>
            <a:ext cx="3474720" cy="640080"/>
          </a:xfrm>
          <a:prstGeom prst="rect">
            <a:avLst/>
          </a:prstGeom>
          <a:solidFill>
            <a:srgbClr val="FE7C39"/>
          </a:solidFill>
          <a:ln w="12700">
            <a:solidFill>
              <a:srgbClr val="FE7C39"/>
            </a:solidFill>
            <a:prstDash val="solid"/>
          </a:ln>
        </p:spPr>
      </p:sp>
      <p:pic>
        <p:nvPicPr>
          <p:cNvPr id="18" name="Image 5" descr="/Users/sdutta406/.claude/skills/pwc-slides-brand-version/.icon_cache/icon_f3ed_FFFFFF_2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69164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46320" y="167335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API Hardening</a:t>
            </a:r>
            <a:endParaRPr lang="en-US" sz="1200" dirty="0"/>
          </a:p>
        </p:txBody>
      </p:sp>
      <p:pic>
        <p:nvPicPr>
          <p:cNvPr id="20" name="Image 6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2386584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709160" y="235000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at all API boundaries</a:t>
            </a:r>
            <a:endParaRPr lang="en-US" sz="1200" dirty="0"/>
          </a:p>
        </p:txBody>
      </p:sp>
      <p:pic>
        <p:nvPicPr>
          <p:cNvPr id="22" name="Image 7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2980944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709160" y="29443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 with signed cookies</a:t>
            </a:r>
            <a:endParaRPr lang="en-US" sz="1200" dirty="0"/>
          </a:p>
        </p:txBody>
      </p:sp>
      <p:pic>
        <p:nvPicPr>
          <p:cNvPr id="24" name="Image 8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3575304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709160" y="353872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and CORS enforcement</a:t>
            </a:r>
            <a:endParaRPr lang="en-US" sz="1200" dirty="0"/>
          </a:p>
        </p:txBody>
      </p:sp>
      <p:pic>
        <p:nvPicPr>
          <p:cNvPr id="26" name="Image 9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4169664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709160" y="413308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reverse proxy for all traffic</a:t>
            </a:r>
            <a:endParaRPr lang="en-US" sz="1200" dirty="0"/>
          </a:p>
        </p:txBody>
      </p:sp>
      <p:sp>
        <p:nvSpPr>
          <p:cNvPr id="28" name="Shape 16"/>
          <p:cNvSpPr/>
          <p:nvPr/>
        </p:nvSpPr>
        <p:spPr>
          <a:xfrm>
            <a:off x="8001000" y="1508760"/>
            <a:ext cx="3474720" cy="329184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9" name="Shape 17"/>
          <p:cNvSpPr/>
          <p:nvPr/>
        </p:nvSpPr>
        <p:spPr>
          <a:xfrm>
            <a:off x="8001000" y="1508760"/>
            <a:ext cx="3474720" cy="640080"/>
          </a:xfrm>
          <a:prstGeom prst="rect">
            <a:avLst/>
          </a:prstGeom>
          <a:solidFill>
            <a:srgbClr val="FFAA72"/>
          </a:solidFill>
          <a:ln w="12700">
            <a:solidFill>
              <a:srgbClr val="FFAA72"/>
            </a:solidFill>
            <a:prstDash val="solid"/>
          </a:ln>
        </p:spPr>
      </p:sp>
      <p:pic>
        <p:nvPicPr>
          <p:cNvPr id="30" name="Image 10" descr="/Users/sdutta406/.claude/skills/pwc-slides-brand-version/.icon_cache/icon_f625_FFFFFF_2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3880" y="1691640"/>
            <a:ext cx="274320" cy="27432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8595360" y="167335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 &amp; Reliability</a:t>
            </a:r>
            <a:endParaRPr lang="en-US" sz="1200" dirty="0"/>
          </a:p>
        </p:txBody>
      </p:sp>
      <p:pic>
        <p:nvPicPr>
          <p:cNvPr id="32" name="Image 11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3880" y="2386584"/>
            <a:ext cx="182880" cy="18288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8458200" y="235000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service with auto-restart</a:t>
            </a:r>
            <a:endParaRPr lang="en-US" sz="1200" dirty="0"/>
          </a:p>
        </p:txBody>
      </p:sp>
      <p:pic>
        <p:nvPicPr>
          <p:cNvPr id="34" name="Image 12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3880" y="2980944"/>
            <a:ext cx="182880" cy="18288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8458200" y="29443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supervision and crash recovery</a:t>
            </a:r>
            <a:endParaRPr lang="en-US" sz="1200" dirty="0"/>
          </a:p>
        </p:txBody>
      </p:sp>
      <p:pic>
        <p:nvPicPr>
          <p:cNvPr id="36" name="Image 13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3880" y="3575304"/>
            <a:ext cx="182880" cy="182880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8458200" y="353872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error logging</a:t>
            </a:r>
            <a:endParaRPr lang="en-US" sz="1200" dirty="0"/>
          </a:p>
        </p:txBody>
      </p:sp>
      <p:pic>
        <p:nvPicPr>
          <p:cNvPr id="38" name="Image 14" descr="/Users/sdutta406/.claude/skills/pwc-slides-brand-version/.icon_cache/icon_f00c_FD5108_2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83880" y="4169664"/>
            <a:ext cx="182880" cy="18288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8458200" y="413308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deploy pipeline with rollback</a:t>
            </a:r>
            <a:endParaRPr lang="en-US" sz="1200" dirty="0"/>
          </a:p>
        </p:txBody>
      </p:sp>
      <p:sp>
        <p:nvSpPr>
          <p:cNvPr id="40" name="Shape 23"/>
          <p:cNvSpPr/>
          <p:nvPr/>
        </p:nvSpPr>
        <p:spPr>
          <a:xfrm>
            <a:off x="502920" y="4937760"/>
            <a:ext cx="11183112" cy="640080"/>
          </a:xfrm>
          <a:prstGeom prst="rect">
            <a:avLst>
              <a:gd name="adj" fmla="val 8571"/>
            </a:avLst>
          </a:prstGeom>
          <a:solidFill>
            <a:srgbClr val="FFF5ED"/>
          </a:solidFill>
          <a:ln w="12700">
            <a:solidFill>
              <a:srgbClr val="FFE8D4"/>
            </a:solidFill>
            <a:prstDash val="solid"/>
          </a:ln>
        </p:spPr>
      </p:sp>
      <p:sp>
        <p:nvSpPr>
          <p:cNvPr id="41" name="Text 24"/>
          <p:cNvSpPr/>
          <p:nvPr/>
        </p:nvSpPr>
        <p:spPr>
          <a:xfrm>
            <a:off x="731520" y="5047488"/>
            <a:ext cx="10817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model: </a:t>
            </a:r>
            <a:pPr indent="0" marL="0">
              <a:buNone/>
            </a:pPr>
            <a:r>
              <a:rPr lang="en-US" sz="12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Free-form, agent-led exploration for POCs and internal tools — structured, step-by-step with human review checkpoints for anything production-facing or client-visible.</a:t>
            </a:r>
            <a:endParaRPr lang="en-US" sz="1200" dirty="0"/>
          </a:p>
        </p:txBody>
      </p:sp>
      <p:sp>
        <p:nvSpPr>
          <p:cNvPr id="42" name="Shape 25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CBD1D6"/>
          </a:solidFill>
          <a:ln/>
        </p:spPr>
      </p:sp>
      <p:pic>
        <p:nvPicPr>
          <p:cNvPr id="43" name="Image 15" descr="/Users/sdutta406/.claude/skills/pwc-slides-brand-version/assets/logo/pwc_logo_smal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" y="6537960"/>
            <a:ext cx="475488" cy="22860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3351276" y="6510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Vibecoding in Practice</a:t>
            </a:r>
            <a:endParaRPr lang="en-US" sz="1000" dirty="0"/>
          </a:p>
        </p:txBody>
      </p:sp>
      <p:sp>
        <p:nvSpPr>
          <p:cNvPr id="45" name="Text 27"/>
          <p:cNvSpPr/>
          <p:nvPr/>
        </p:nvSpPr>
        <p:spPr>
          <a:xfrm>
            <a:off x="10771632" y="6510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diligence question is not "Is AI used?" but </a:t>
            </a:r>
            <a:pPr indent="0" marL="0">
              <a:buNone/>
            </a:pPr>
            <a:r>
              <a:rPr lang="en-US" sz="3600" b="1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it governed?"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" cy="50292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954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concrete implications for PE tech strategy and value-creation teams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2880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this means in practice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Value-creation angle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 AI code quality, not just velocity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4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code review practices, test coverage, and debt accumulation rate at portfolio companies using AI 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hidden technical debt that compresses exit multiples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Quantify developer productivity gains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4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AI productivity metrics into 100-day plans — output per engineer, time-to-feature, defect rates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Monetize efficiency as margin improvement in value-creation plans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 agentic workflow readiness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4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 whether portfolio dev teams have the process maturity to supervise and govern semi-autonomous agents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 acceleration opportunities and governance gaps early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Diligence AI velocity and governance together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4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due diligence, pair "how much AI is used?" with "how is output reviewed, tested, and deployed?"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governance risk before it becomes a post-close liability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CBD1D6"/>
          </a:solidFill>
          <a:ln/>
        </p:spPr>
      </p:sp>
      <p:pic>
        <p:nvPicPr>
          <p:cNvPr id="8" name="Image 0" descr="/Users/sdutta406/.claude/skills/pwc-slides-brand-version/assets/logo/pwc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475488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51276" y="6510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Vibecoding in Practice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0771632" y="6510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using it now — </a:t>
            </a:r>
            <a:pPr indent="0" marL="0">
              <a:buNone/>
            </a:pPr>
            <a:r>
              <a:rPr lang="en-US" sz="3600" b="1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it like a professional software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4937760"/>
          </a:xfrm>
          <a:prstGeom prst="rect">
            <a:avLst>
              <a:gd name="adj" fmla="val 1481"/>
            </a:avLst>
          </a:prstGeom>
          <a:solidFill>
            <a:srgbClr val="1F232A"/>
          </a:solidFill>
          <a:ln w="12700">
            <a:solidFill>
              <a:srgbClr val="1F2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045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pattern applies to </a:t>
            </a:r>
            <a:pPr indent="0" marL="0">
              <a:buNone/>
            </a:pPr>
            <a:r>
              <a:rPr lang="en-US" sz="2600" b="1" dirty="0">
                <a:solidFill>
                  <a:srgbClr val="FFA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delivery: 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rapid generation + disciplined review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pic>
        <p:nvPicPr>
          <p:cNvPr id="7" name="Image 0" descr="/Users/sdutta406/.claude/skills/pwc-slides-brand-version/.icon_cache/icon_f129_FE7C39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4320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6974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itself was 100% vibecoded. If presenting externally or to clients, the same rapid generation + structured editorial review would apply.</a:t>
            </a:r>
            <a:endParaRPr lang="en-US" sz="1200" dirty="0"/>
          </a:p>
        </p:txBody>
      </p:sp>
      <p:pic>
        <p:nvPicPr>
          <p:cNvPr id="9" name="Image 1" descr="/Users/sdutta406/.claude/skills/pwc-slides-brand-version/.icon_cache/icon_f129_FE7C39_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478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502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need to be a traditional engineer to start learning this workflow — but you do need to operate it with engineering discipline.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766560" y="2377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ASK</a:t>
            </a:r>
            <a:endParaRPr lang="en-US" sz="1000" dirty="0"/>
          </a:p>
        </p:txBody>
      </p:sp>
      <p:pic>
        <p:nvPicPr>
          <p:cNvPr id="12" name="Image 2" descr="/Users/sdutta406/.claude/skills/pwc-slides-brand-version/.icon_cache/icon_f061_FE7C39_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74320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6974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Codex, Claude Code, or GitHub Copilot Workspace on one real task this week</a:t>
            </a:r>
            <a:endParaRPr lang="en-US" sz="1200" dirty="0"/>
          </a:p>
        </p:txBody>
      </p:sp>
      <p:pic>
        <p:nvPicPr>
          <p:cNvPr id="14" name="Image 3" descr="/Users/sdutta406/.claude/skills/pwc-slides-brand-version/.icon_cache/icon_f061_FE7C39_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40156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86600" y="33558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client-relevant insight back — speed observed, failure mode hit, governance gap surfaced</a:t>
            </a:r>
            <a:endParaRPr lang="en-US" sz="1200" dirty="0"/>
          </a:p>
        </p:txBody>
      </p:sp>
      <p:pic>
        <p:nvPicPr>
          <p:cNvPr id="16" name="Image 4" descr="/Users/sdutta406/.claude/skills/pwc-slides-brand-version/.icon_cache/icon_f061_FE7C39_2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05993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86600" y="401421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Consider: where in your portfolio does vibecoding velocity create diligence or delivery risk today?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777240" y="5806440"/>
            <a:ext cx="10634472" cy="502920"/>
          </a:xfrm>
          <a:prstGeom prst="rect">
            <a:avLst>
              <a:gd name="adj" fmla="val 9091"/>
            </a:avLst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</p:sp>
      <p:pic>
        <p:nvPicPr>
          <p:cNvPr id="19" name="Image 5" descr="/Users/sdutta406/.claude/skills/pwc-slides-brand-version/.icon_cache/icon_f135_FFFFFF_2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925312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5852160"/>
            <a:ext cx="9902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for establishing AI governance frameworks is now — before velocity becomes liability at scale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CBD1D6"/>
          </a:solidFill>
          <a:ln/>
        </p:spPr>
      </p:sp>
      <p:pic>
        <p:nvPicPr>
          <p:cNvPr id="22" name="Image 6" descr="/Users/sdutta406/.claude/skills/pwc-slides-brand-version/assets/logo/pwc_logo_smal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537960"/>
            <a:ext cx="475488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351276" y="6510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Vibecoding in Practice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10771632" y="6510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PwC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Vibecoding in Practice</dc:title>
  <dc:subject>PptxGenJS Presentation</dc:subject>
  <dc:creator>PwC</dc:creator>
  <cp:lastModifiedBy>PwC</cp:lastModifiedBy>
  <cp:revision>1</cp:revision>
  <dcterms:created xsi:type="dcterms:W3CDTF">2026-03-05T17:28:22Z</dcterms:created>
  <dcterms:modified xsi:type="dcterms:W3CDTF">2026-03-05T17:28:22Z</dcterms:modified>
</cp:coreProperties>
</file>